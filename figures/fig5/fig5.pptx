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B528B"/>
    <a:srgbClr val="440154"/>
    <a:srgbClr val="5DC863"/>
    <a:srgbClr val="2C728E"/>
    <a:srgbClr val="21908C"/>
    <a:srgbClr val="27AD81"/>
    <a:srgbClr val="AADC32"/>
    <a:srgbClr val="FDE725"/>
    <a:srgbClr val="472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4964" autoAdjust="0"/>
  </p:normalViewPr>
  <p:slideViewPr>
    <p:cSldViewPr snapToGrid="0">
      <p:cViewPr>
        <p:scale>
          <a:sx n="25" d="100"/>
          <a:sy n="25" d="100"/>
        </p:scale>
        <p:origin x="1884" y="-216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45CFCE6A-9451-8C86-7CBB-1843F267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3072C67B-8D2F-3AAE-394F-2C43DD5AB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D581213B-582B-A4B3-0BE5-76B971FD3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D9349ABE-2577-ABC2-60A2-ED6D28F813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22357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BD4FF4B5-F40C-1277-82C3-AC2200357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363" r="1770" b="3275"/>
          <a:stretch>
            <a:fillRect/>
          </a:stretch>
        </p:blipFill>
        <p:spPr>
          <a:xfrm>
            <a:off x="498474" y="6511332"/>
            <a:ext cx="35429825" cy="1924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88707C2-3318-A9CA-E087-E746027FB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C5FD35D8-9E5D-55C8-F4D0-FA18897F52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08" t="14365" r="27480" b="21992"/>
          <a:stretch>
            <a:fillRect/>
          </a:stretch>
        </p:blipFill>
        <p:spPr>
          <a:xfrm>
            <a:off x="9819833" y="16665358"/>
            <a:ext cx="3334052" cy="23200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9F90D9A-5BAA-A6AD-BF8D-427963088A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053" t="14440" r="26834" b="21916"/>
          <a:stretch>
            <a:fillRect/>
          </a:stretch>
        </p:blipFill>
        <p:spPr>
          <a:xfrm>
            <a:off x="9861113" y="13595349"/>
            <a:ext cx="3334052" cy="232006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030E5A2-E92C-C40A-E253-ED39327BEB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420" t="14440" r="27467" b="20905"/>
          <a:stretch>
            <a:fillRect/>
          </a:stretch>
        </p:blipFill>
        <p:spPr>
          <a:xfrm>
            <a:off x="14722808" y="13595349"/>
            <a:ext cx="3334052" cy="235693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91EEE0F-FACF-9C33-3851-7B6AC4A932B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058" t="13906" r="27467" b="21992"/>
          <a:stretch>
            <a:fillRect/>
          </a:stretch>
        </p:blipFill>
        <p:spPr>
          <a:xfrm>
            <a:off x="14763630" y="16648612"/>
            <a:ext cx="3293230" cy="23368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410C392-4511-5330-48DC-1AA35F808C54}"/>
              </a:ext>
            </a:extLst>
          </p:cNvPr>
          <p:cNvSpPr txBox="1"/>
          <p:nvPr/>
        </p:nvSpPr>
        <p:spPr>
          <a:xfrm>
            <a:off x="13130410" y="16761301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DNA age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6171B2-4D8C-D163-8A37-A4B27E57624E}"/>
              </a:ext>
            </a:extLst>
          </p:cNvPr>
          <p:cNvSpPr txBox="1"/>
          <p:nvPr/>
        </p:nvSpPr>
        <p:spPr>
          <a:xfrm>
            <a:off x="13130410" y="16899413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DNA age x prop.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AA23AD-EAC5-6D61-AE97-77E3AF46CEEB}"/>
              </a:ext>
            </a:extLst>
          </p:cNvPr>
          <p:cNvSpPr txBox="1"/>
          <p:nvPr/>
        </p:nvSpPr>
        <p:spPr>
          <a:xfrm>
            <a:off x="13130410" y="17037525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LINE age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15D9E4-B2C6-90A1-D193-3E8F30084E98}"/>
              </a:ext>
            </a:extLst>
          </p:cNvPr>
          <p:cNvSpPr txBox="1"/>
          <p:nvPr/>
        </p:nvSpPr>
        <p:spPr>
          <a:xfrm>
            <a:off x="13130410" y="17175637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LTR age x prop.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75525C-1F6A-1BDE-8836-B8462CB9EEFB}"/>
              </a:ext>
            </a:extLst>
          </p:cNvPr>
          <p:cNvSpPr txBox="1"/>
          <p:nvPr/>
        </p:nvSpPr>
        <p:spPr>
          <a:xfrm>
            <a:off x="13130410" y="17313749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Others age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98515C-07B0-1DEC-8115-3443BD05BE68}"/>
              </a:ext>
            </a:extLst>
          </p:cNvPr>
          <p:cNvSpPr txBox="1"/>
          <p:nvPr/>
        </p:nvSpPr>
        <p:spPr>
          <a:xfrm>
            <a:off x="13130410" y="17451861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Others age x prop.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0E7F28-443B-A2AC-176D-7DBD7F83B072}"/>
              </a:ext>
            </a:extLst>
          </p:cNvPr>
          <p:cNvSpPr txBox="1"/>
          <p:nvPr/>
        </p:nvSpPr>
        <p:spPr>
          <a:xfrm>
            <a:off x="13131877" y="17589973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SINE age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63B509-27EF-29EB-AB3D-4CEBF4EAA433}"/>
              </a:ext>
            </a:extLst>
          </p:cNvPr>
          <p:cNvSpPr txBox="1"/>
          <p:nvPr/>
        </p:nvSpPr>
        <p:spPr>
          <a:xfrm>
            <a:off x="13130410" y="17728085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Unknown age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8D3284-8479-B1EE-5C7D-DB0F0745DB66}"/>
              </a:ext>
            </a:extLst>
          </p:cNvPr>
          <p:cNvSpPr txBox="1"/>
          <p:nvPr/>
        </p:nvSpPr>
        <p:spPr>
          <a:xfrm>
            <a:off x="13130410" y="17862249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Unknown age x prop.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7AFB92-0CEE-50C0-1672-4EE0E521D42D}"/>
              </a:ext>
            </a:extLst>
          </p:cNvPr>
          <p:cNvSpPr txBox="1"/>
          <p:nvPr/>
        </p:nvSpPr>
        <p:spPr>
          <a:xfrm>
            <a:off x="13130410" y="18003556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LINE proportion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611B5F-9927-2CE2-6145-5DB590DF5C7D}"/>
              </a:ext>
            </a:extLst>
          </p:cNvPr>
          <p:cNvSpPr txBox="1"/>
          <p:nvPr/>
        </p:nvSpPr>
        <p:spPr>
          <a:xfrm>
            <a:off x="13131878" y="18142421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LTR proportion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7073772-114C-4DCE-D32C-542270626B80}"/>
              </a:ext>
            </a:extLst>
          </p:cNvPr>
          <p:cNvSpPr txBox="1"/>
          <p:nvPr/>
        </p:nvSpPr>
        <p:spPr>
          <a:xfrm>
            <a:off x="13130410" y="18278966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Others proportion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116E87-0CF0-64E3-69EF-9FA6D57711B3}"/>
              </a:ext>
            </a:extLst>
          </p:cNvPr>
          <p:cNvSpPr txBox="1"/>
          <p:nvPr/>
        </p:nvSpPr>
        <p:spPr>
          <a:xfrm>
            <a:off x="13130410" y="18417078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SINE proportion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21A716-E86B-D606-2E34-B1D75AE912AD}"/>
              </a:ext>
            </a:extLst>
          </p:cNvPr>
          <p:cNvSpPr txBox="1"/>
          <p:nvPr/>
        </p:nvSpPr>
        <p:spPr>
          <a:xfrm>
            <a:off x="13130410" y="18553623"/>
            <a:ext cx="16840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Unknown proportion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F2962A-8CAC-9DB5-5D45-8C3CB7B2E682}"/>
              </a:ext>
            </a:extLst>
          </p:cNvPr>
          <p:cNvSpPr txBox="1"/>
          <p:nvPr/>
        </p:nvSpPr>
        <p:spPr>
          <a:xfrm>
            <a:off x="13130410" y="1526020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proportion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20EF691-0520-451A-F903-5367548CB260}"/>
              </a:ext>
            </a:extLst>
          </p:cNvPr>
          <p:cNvSpPr txBox="1"/>
          <p:nvPr/>
        </p:nvSpPr>
        <p:spPr>
          <a:xfrm>
            <a:off x="13130407" y="14800633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DNA proportion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C09E0E-EF47-6E3A-892A-E64E4A425C42}"/>
              </a:ext>
            </a:extLst>
          </p:cNvPr>
          <p:cNvSpPr txBox="1"/>
          <p:nvPr/>
        </p:nvSpPr>
        <p:spPr>
          <a:xfrm>
            <a:off x="13130407" y="1434093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 x prop.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4AEFD2-4824-D1C7-3C4A-B3466675B397}"/>
              </a:ext>
            </a:extLst>
          </p:cNvPr>
          <p:cNvSpPr txBox="1"/>
          <p:nvPr/>
        </p:nvSpPr>
        <p:spPr>
          <a:xfrm>
            <a:off x="13130407" y="1388008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age x prop.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95FB79-103C-3540-9E61-0FC27A4B684C}"/>
              </a:ext>
            </a:extLst>
          </p:cNvPr>
          <p:cNvSpPr txBox="1"/>
          <p:nvPr/>
        </p:nvSpPr>
        <p:spPr>
          <a:xfrm>
            <a:off x="8227894" y="1530145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proportion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5A1008A-FA33-12D7-BB5F-CFD17C19D361}"/>
              </a:ext>
            </a:extLst>
          </p:cNvPr>
          <p:cNvSpPr txBox="1"/>
          <p:nvPr/>
        </p:nvSpPr>
        <p:spPr>
          <a:xfrm>
            <a:off x="8227893" y="15009068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proportion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DAEA9A-31BA-2C8D-A4B9-7F5882277312}"/>
              </a:ext>
            </a:extLst>
          </p:cNvPr>
          <p:cNvSpPr txBox="1"/>
          <p:nvPr/>
        </p:nvSpPr>
        <p:spPr>
          <a:xfrm>
            <a:off x="8227893" y="1471624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DNA proportion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B03B01-913C-3F00-D989-07EA93B5FD43}"/>
              </a:ext>
            </a:extLst>
          </p:cNvPr>
          <p:cNvSpPr txBox="1"/>
          <p:nvPr/>
        </p:nvSpPr>
        <p:spPr>
          <a:xfrm>
            <a:off x="8227893" y="14422464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 x prop.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E4DAD7-D788-D4A5-6E27-46485AB2B237}"/>
              </a:ext>
            </a:extLst>
          </p:cNvPr>
          <p:cNvSpPr txBox="1"/>
          <p:nvPr/>
        </p:nvSpPr>
        <p:spPr>
          <a:xfrm>
            <a:off x="8227893" y="14129777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2905EC-2D9D-7F8F-57C6-F1EDF75096C8}"/>
              </a:ext>
            </a:extLst>
          </p:cNvPr>
          <p:cNvSpPr txBox="1"/>
          <p:nvPr/>
        </p:nvSpPr>
        <p:spPr>
          <a:xfrm>
            <a:off x="8227893" y="1383861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age x prop.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CC4F09E-5BA3-25AC-5529-C407EBC34022}"/>
              </a:ext>
            </a:extLst>
          </p:cNvPr>
          <p:cNvSpPr txBox="1"/>
          <p:nvPr/>
        </p:nvSpPr>
        <p:spPr>
          <a:xfrm>
            <a:off x="8228247" y="18006348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Others proportion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AC2C171-9160-10D0-C551-4D5EE3A99959}"/>
              </a:ext>
            </a:extLst>
          </p:cNvPr>
          <p:cNvSpPr txBox="1"/>
          <p:nvPr/>
        </p:nvSpPr>
        <p:spPr>
          <a:xfrm>
            <a:off x="10101021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B08683C-70C6-CDE4-627F-C604DCCCB874}"/>
              </a:ext>
            </a:extLst>
          </p:cNvPr>
          <p:cNvSpPr txBox="1"/>
          <p:nvPr/>
        </p:nvSpPr>
        <p:spPr>
          <a:xfrm>
            <a:off x="10752051" y="18990190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2927145-C52E-BFB0-875A-DE12A494034F}"/>
              </a:ext>
            </a:extLst>
          </p:cNvPr>
          <p:cNvSpPr txBox="1"/>
          <p:nvPr/>
        </p:nvSpPr>
        <p:spPr>
          <a:xfrm>
            <a:off x="11407843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BD5E3CA-A985-B775-6815-5B1B09F78A88}"/>
              </a:ext>
            </a:extLst>
          </p:cNvPr>
          <p:cNvSpPr txBox="1"/>
          <p:nvPr/>
        </p:nvSpPr>
        <p:spPr>
          <a:xfrm>
            <a:off x="12056492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B5D36E-7F50-86AA-09A5-72168BC58E99}"/>
              </a:ext>
            </a:extLst>
          </p:cNvPr>
          <p:cNvSpPr txBox="1"/>
          <p:nvPr/>
        </p:nvSpPr>
        <p:spPr>
          <a:xfrm>
            <a:off x="12712284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996170D-5DB1-0391-6E7D-FA991E307AE3}"/>
              </a:ext>
            </a:extLst>
          </p:cNvPr>
          <p:cNvSpPr txBox="1"/>
          <p:nvPr/>
        </p:nvSpPr>
        <p:spPr>
          <a:xfrm>
            <a:off x="14873517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414A936-3BC7-E891-BB92-9B3809FBD6A5}"/>
              </a:ext>
            </a:extLst>
          </p:cNvPr>
          <p:cNvSpPr txBox="1"/>
          <p:nvPr/>
        </p:nvSpPr>
        <p:spPr>
          <a:xfrm>
            <a:off x="15290885" y="18987808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08E0992-941F-BF95-1852-E0ED46760E5E}"/>
              </a:ext>
            </a:extLst>
          </p:cNvPr>
          <p:cNvSpPr txBox="1"/>
          <p:nvPr/>
        </p:nvSpPr>
        <p:spPr>
          <a:xfrm>
            <a:off x="15711373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D007E41-FBBB-6AF2-3D90-94BC6CB095EC}"/>
              </a:ext>
            </a:extLst>
          </p:cNvPr>
          <p:cNvSpPr txBox="1"/>
          <p:nvPr/>
        </p:nvSpPr>
        <p:spPr>
          <a:xfrm>
            <a:off x="16130814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AFFCEA-8771-41F8-A544-AFCA8CE3F1F6}"/>
              </a:ext>
            </a:extLst>
          </p:cNvPr>
          <p:cNvSpPr txBox="1"/>
          <p:nvPr/>
        </p:nvSpPr>
        <p:spPr>
          <a:xfrm>
            <a:off x="16552296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0ADB2C9-6A0E-1272-43E0-039337AECB93}"/>
              </a:ext>
            </a:extLst>
          </p:cNvPr>
          <p:cNvSpPr txBox="1"/>
          <p:nvPr/>
        </p:nvSpPr>
        <p:spPr>
          <a:xfrm>
            <a:off x="16973124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FD91C31-EF3F-65AD-7292-B611138D877D}"/>
              </a:ext>
            </a:extLst>
          </p:cNvPr>
          <p:cNvSpPr txBox="1"/>
          <p:nvPr/>
        </p:nvSpPr>
        <p:spPr>
          <a:xfrm>
            <a:off x="17390837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322B6DF-1319-ADDA-11F3-DAEA71D71A68}"/>
              </a:ext>
            </a:extLst>
          </p:cNvPr>
          <p:cNvSpPr txBox="1"/>
          <p:nvPr/>
        </p:nvSpPr>
        <p:spPr>
          <a:xfrm>
            <a:off x="17181412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AD35FD3-DF13-3E3D-8299-F427A1EEC0A8}"/>
              </a:ext>
            </a:extLst>
          </p:cNvPr>
          <p:cNvSpPr txBox="1"/>
          <p:nvPr/>
        </p:nvSpPr>
        <p:spPr>
          <a:xfrm>
            <a:off x="16576110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2826876-914C-FE08-C79A-1C4B6E310AD8}"/>
              </a:ext>
            </a:extLst>
          </p:cNvPr>
          <p:cNvSpPr txBox="1"/>
          <p:nvPr/>
        </p:nvSpPr>
        <p:spPr>
          <a:xfrm>
            <a:off x="15966046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6590ADA-F3E3-1FDF-5C30-063F45F6603E}"/>
              </a:ext>
            </a:extLst>
          </p:cNvPr>
          <p:cNvSpPr txBox="1"/>
          <p:nvPr/>
        </p:nvSpPr>
        <p:spPr>
          <a:xfrm>
            <a:off x="15355982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81572A7-19DD-9F10-BC73-25554D743B48}"/>
              </a:ext>
            </a:extLst>
          </p:cNvPr>
          <p:cNvSpPr txBox="1"/>
          <p:nvPr/>
        </p:nvSpPr>
        <p:spPr>
          <a:xfrm>
            <a:off x="1474547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96861EB-171D-8BDE-AFA6-C5E914BE7820}"/>
              </a:ext>
            </a:extLst>
          </p:cNvPr>
          <p:cNvSpPr txBox="1"/>
          <p:nvPr/>
        </p:nvSpPr>
        <p:spPr>
          <a:xfrm>
            <a:off x="1254543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978256F-C9DD-7E84-0003-C98F9DCB0A22}"/>
              </a:ext>
            </a:extLst>
          </p:cNvPr>
          <p:cNvSpPr txBox="1"/>
          <p:nvPr/>
        </p:nvSpPr>
        <p:spPr>
          <a:xfrm>
            <a:off x="11894402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3CCA778-9EB9-A279-2261-A83CAE3171E0}"/>
              </a:ext>
            </a:extLst>
          </p:cNvPr>
          <p:cNvSpPr txBox="1"/>
          <p:nvPr/>
        </p:nvSpPr>
        <p:spPr>
          <a:xfrm>
            <a:off x="1124813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D33CC74-3CB2-80C1-E844-F07D6E6983F2}"/>
              </a:ext>
            </a:extLst>
          </p:cNvPr>
          <p:cNvSpPr txBox="1"/>
          <p:nvPr/>
        </p:nvSpPr>
        <p:spPr>
          <a:xfrm>
            <a:off x="1059710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D7FAE01-51BA-2556-A4AB-DD2CA686DCF9}"/>
              </a:ext>
            </a:extLst>
          </p:cNvPr>
          <p:cNvSpPr txBox="1"/>
          <p:nvPr/>
        </p:nvSpPr>
        <p:spPr>
          <a:xfrm>
            <a:off x="994907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E42A7D95-1C8A-72B7-48AD-7DA42E00530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3264" t="20922" r="9701" b="66305"/>
          <a:stretch>
            <a:fillRect/>
          </a:stretch>
        </p:blipFill>
        <p:spPr>
          <a:xfrm>
            <a:off x="17842421" y="14579796"/>
            <a:ext cx="2187753" cy="93466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9DECBF54-75AF-45F9-6818-71F5AD7F32AF}"/>
              </a:ext>
            </a:extLst>
          </p:cNvPr>
          <p:cNvSpPr txBox="1"/>
          <p:nvPr/>
        </p:nvSpPr>
        <p:spPr>
          <a:xfrm>
            <a:off x="9969851" y="13266319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All species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294FF47-F487-D7CD-AE86-7348ADFBE622}"/>
              </a:ext>
            </a:extLst>
          </p:cNvPr>
          <p:cNvSpPr txBox="1"/>
          <p:nvPr/>
        </p:nvSpPr>
        <p:spPr>
          <a:xfrm>
            <a:off x="14875419" y="13266319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Mammalia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F613C8E-460C-1A05-8FDD-793137665073}"/>
              </a:ext>
            </a:extLst>
          </p:cNvPr>
          <p:cNvSpPr txBox="1"/>
          <p:nvPr/>
        </p:nvSpPr>
        <p:spPr>
          <a:xfrm>
            <a:off x="9972437" y="16341090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Actinopterygii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D6B7E08-CE46-7330-9139-D35354443ACB}"/>
              </a:ext>
            </a:extLst>
          </p:cNvPr>
          <p:cNvSpPr txBox="1"/>
          <p:nvPr/>
        </p:nvSpPr>
        <p:spPr>
          <a:xfrm>
            <a:off x="14876340" y="16341293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Sauropsida</a:t>
            </a:r>
            <a:endParaRPr lang="en-US" sz="16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E7C1B47B-9EB9-6862-B6DA-6CB03AEF60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3264" t="42542" r="9701" b="49130"/>
          <a:stretch>
            <a:fillRect/>
          </a:stretch>
        </p:blipFill>
        <p:spPr>
          <a:xfrm>
            <a:off x="18142043" y="16881506"/>
            <a:ext cx="2187753" cy="609407"/>
          </a:xfrm>
          <a:prstGeom prst="rect">
            <a:avLst/>
          </a:prstGeom>
        </p:spPr>
      </p:pic>
      <p:sp>
        <p:nvSpPr>
          <p:cNvPr id="122" name="TextBox 121">
            <a:extLst>
              <a:ext uri="{FF2B5EF4-FFF2-40B4-BE49-F238E27FC236}">
                <a16:creationId xmlns:a16="http://schemas.microsoft.com/office/drawing/2014/main" id="{68D798CF-9992-C537-7041-0E0B0C475E95}"/>
              </a:ext>
            </a:extLst>
          </p:cNvPr>
          <p:cNvSpPr txBox="1"/>
          <p:nvPr/>
        </p:nvSpPr>
        <p:spPr>
          <a:xfrm>
            <a:off x="18182296" y="13916121"/>
            <a:ext cx="1684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Response</a:t>
            </a:r>
          </a:p>
          <a:p>
            <a:r>
              <a:rPr lang="en-US" sz="1800" dirty="0"/>
              <a:t>metric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B2F303B-6D7F-5B9E-4B7A-A36BF540E4AC}"/>
              </a:ext>
            </a:extLst>
          </p:cNvPr>
          <p:cNvSpPr txBox="1"/>
          <p:nvPr/>
        </p:nvSpPr>
        <p:spPr>
          <a:xfrm>
            <a:off x="18212744" y="16497790"/>
            <a:ext cx="1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Adequacy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7D90586-2CBF-9726-DB19-39052AB35979}"/>
              </a:ext>
            </a:extLst>
          </p:cNvPr>
          <p:cNvSpPr txBox="1"/>
          <p:nvPr/>
        </p:nvSpPr>
        <p:spPr>
          <a:xfrm>
            <a:off x="10333423" y="19280196"/>
            <a:ext cx="23788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Sign-aligned </a:t>
            </a:r>
            <a:r>
              <a:rPr lang="el-GR" sz="1500" dirty="0"/>
              <a:t>β</a:t>
            </a:r>
            <a:r>
              <a:rPr lang="en-US" sz="1500" dirty="0"/>
              <a:t> </a:t>
            </a:r>
          </a:p>
          <a:p>
            <a:pPr algn="ctr"/>
            <a:r>
              <a:rPr lang="en-US" sz="1500" dirty="0"/>
              <a:t> 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FBE32D0-E3CF-261C-8EB4-FB9065B70273}"/>
              </a:ext>
            </a:extLst>
          </p:cNvPr>
          <p:cNvSpPr txBox="1"/>
          <p:nvPr/>
        </p:nvSpPr>
        <p:spPr>
          <a:xfrm>
            <a:off x="15246006" y="19280196"/>
            <a:ext cx="23788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Sign-aligned </a:t>
            </a:r>
            <a:r>
              <a:rPr lang="el-GR" sz="1500" dirty="0"/>
              <a:t>β</a:t>
            </a:r>
            <a:r>
              <a:rPr lang="en-US" sz="1500" dirty="0"/>
              <a:t> </a:t>
            </a:r>
          </a:p>
          <a:p>
            <a:pPr algn="ctr"/>
            <a:r>
              <a:rPr lang="en-US" sz="15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087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4005</TotalTime>
  <Words>121</Words>
  <Application>Microsoft Office PowerPoint</Application>
  <PresentationFormat>Custom</PresentationFormat>
  <Paragraphs>59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236</cp:revision>
  <dcterms:created xsi:type="dcterms:W3CDTF">2014-10-11T23:18:25Z</dcterms:created>
  <dcterms:modified xsi:type="dcterms:W3CDTF">2026-05-19T18:29:37Z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